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348"/>
              </a:gs>
              <a:gs pos="100000">
                <a:srgbClr val="17498F"/>
              </a:gs>
            </a:gsLst>
            <a:lin scaled="0" ang="1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66928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4617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300">
                <a:solidFill>
                  <a:srgbClr val="A9C6EE"/>
                </a:solidFill>
                <a:latin typeface="微软雅黑"/>
                <a:ea typeface="微软雅黑"/>
              </a:rPr>
              <a:t>AI 客服质量保障项目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4617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AAB8D6"/>
                </a:solidFill>
                <a:latin typeface="微软雅黑"/>
                <a:ea typeface="微软雅黑"/>
              </a:rP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邀请你参加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AI 客服 UAT 业务测试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0128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C4D7F3"/>
                </a:solidFill>
                <a:latin typeface="微软雅黑"/>
                <a:ea typeface="微软雅黑"/>
              </a:rPr>
              <a:t>上线前的最后一道业务把关——本报告说明我们为什么做这个项目、它能解决什么问题、什么时候上线、现在到了哪一步，以及为什么这一步必须有业务同事参与。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7083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0C2348"/>
                </a:solidFill>
                <a:latin typeface="微软雅黑"/>
                <a:ea typeface="微软雅黑"/>
              </a:rPr>
              <a:t>业务测试邀请说明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4370832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0">
                <a:solidFill>
                  <a:srgbClr val="DBE7F9"/>
                </a:solidFill>
                <a:latin typeface="微软雅黑"/>
                <a:ea typeface="微软雅黑"/>
              </a:rPr>
              <a:t>面向：受邀测试部门同事 · 部门负责人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1536" y="437083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0">
                <a:solidFill>
                  <a:srgbClr val="DBE7F9"/>
                </a:solidFill>
                <a:latin typeface="微软雅黑"/>
                <a:ea typeface="微软雅黑"/>
              </a:rPr>
              <a:t>2026 年 7 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38928"/>
            <a:ext cx="11094415" cy="10972"/>
          </a:xfrm>
          <a:prstGeom prst="rect">
            <a:avLst/>
          </a:prstGeom>
          <a:solidFill>
            <a:srgbClr val="2E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02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为什么做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03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解决什么问题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04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上线时间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05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当前阶段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06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为什么需要你们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07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具体要做什么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08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分工与投入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09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我们提供的支撑　 </a:t>
            </a:r>
            <a:r>
              <a:rPr sz="1000" b="1">
                <a:solidFill>
                  <a:srgbClr val="C9A04E"/>
                </a:solidFill>
                <a:latin typeface="微软雅黑"/>
                <a:ea typeface="微软雅黑"/>
              </a:rPr>
              <a:t>10 </a:t>
            </a:r>
            <a:r>
              <a:rPr sz="1000" b="0">
                <a:solidFill>
                  <a:srgbClr val="C4D7F3"/>
                </a:solidFill>
                <a:latin typeface="微软雅黑"/>
                <a:ea typeface="微软雅黑"/>
              </a:rPr>
              <a:t>底线与行动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WHY ·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我们为什么要做 AI 客服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客户咨询量持续增长，其中大量是高频重复问题；人工客服有峰谷、有交接，回答口径也难以完全统一。我们希望把这部分标准化问答交给系统，把人力留给真正复杂的客户。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68880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43200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7×24 即时应答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90672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高频重复问题不再排队等人工，客户任何时间提问都能立刻得到回复。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28600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674" y="2468880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674" y="2743200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回答统一、可追溯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7674" y="3090672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每一条回复都出自业务和合规批准过的知识库原文，不同客户问同一件事，答案完全一致。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28600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7252" y="2468880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7252" y="2743200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释放人工客服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3090672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把简单重复问题交给系统处理，人工客服集中精力处理复杂、高价值的咨询。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9000"/>
            </a:avLst>
          </a:prstGeom>
          <a:solidFill>
            <a:srgbClr val="FAF4E6"/>
          </a:solidFill>
          <a:ln w="9525">
            <a:solidFill>
              <a:srgbClr val="ECD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" y="4572000"/>
            <a:ext cx="41148" cy="960120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57200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31F33"/>
                </a:solidFill>
                <a:latin typeface="微软雅黑"/>
                <a:ea typeface="微软雅黑"/>
              </a:rPr>
              <a:t>系统的关键设计：模型只负责「听懂问题」，不负责「编答案」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83480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B5A71"/>
                </a:solidFill>
                <a:latin typeface="微软雅黑"/>
                <a:ea typeface="微软雅黑"/>
              </a:rPr>
              <a:t>它做的是意图识别——识别客户在问哪一条已批准的问答，然后返回知识库原文；识别不了就按批准的话术兜底或转人工。它不会自由发挥。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WHAT · UAT 的目标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这轮 UAT 测试要解决什么问题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上线前，我们要用大量接近真实客户的问法去「考」这套系统，一方面证明它答得对，另一方面——更重要的——证明它在不该答的时候不会乱答。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200">
                <a:solidFill>
                  <a:srgbClr val="187A3C"/>
                </a:solidFill>
                <a:latin typeface="微软雅黑"/>
                <a:ea typeface="微软雅黑"/>
              </a:rPr>
              <a:t>要证明它做得到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212848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200">
                <a:solidFill>
                  <a:srgbClr val="A12F2F"/>
                </a:solidFill>
                <a:latin typeface="微软雅黑"/>
                <a:ea typeface="微软雅黑"/>
              </a:rPr>
              <a:t>要防住的风险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87A3C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5176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答得对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——知识库内的问题，无论客户怎么换说法，都能命中正确答案。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87A3C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38328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兜得住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——识别不了、超出范围的问题，按批准话术兜底或转人工，而不是硬答。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4164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4164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87A3C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11480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顺便体检知识库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——找出问答的重复、边界冲突、覆盖缺口和合规风险，上线前一并整改。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257860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257860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12F2F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359" y="265176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错答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——客户问 A，系统答成了 B。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331012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9039" y="331012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12F2F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3359" y="338328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强答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——敏感、超范围的问题被强行匹配了一个业务答案，例如涉及承诺、收费、法律的问题。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4041648"/>
            <a:ext cx="5318607" cy="566928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4041648"/>
            <a:ext cx="274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12F2F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3359" y="4114800"/>
            <a:ext cx="469681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131F33"/>
                </a:solidFill>
                <a:latin typeface="微软雅黑"/>
                <a:ea typeface="微软雅黑"/>
              </a:rPr>
              <a:t>处置错误</a:t>
            </a: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——高风险问题走错路由、该转人工的没有转。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C2348"/>
              </a:gs>
              <a:gs pos="100000">
                <a:srgbClr val="17498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" y="5148072"/>
            <a:ext cx="41148" cy="731520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111496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测试的第一原则：宁可不答，不能错答。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5321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C4D7F3"/>
                </a:solidFill>
                <a:latin typeface="微软雅黑"/>
                <a:ea typeface="微软雅黑"/>
              </a:rPr>
              <a:t>一次错答或强答对客户造成的伤害，远大于一次「请您转人工」。所以敏感与高风险场景在验收里全部是零容忍的硬指标。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WHEN · 时间计划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什么时间上线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按当前计划，正式上线目标是 </a:t>
            </a: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2026 年 10 月</a:t>
            </a: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。在此之前有两道关口：7–8 月完成 UAT 测试与整改，9 月小范围试点验证。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0528" y="2788920"/>
            <a:ext cx="10650638" cy="16459"/>
          </a:xfrm>
          <a:prstGeom prst="rect">
            <a:avLst/>
          </a:prstGeom>
          <a:solidFill>
            <a:srgbClr val="D4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697480"/>
            <a:ext cx="219456" cy="219456"/>
          </a:xfrm>
          <a:prstGeom prst="ellipse">
            <a:avLst/>
          </a:prstGeom>
          <a:solidFill>
            <a:srgbClr val="1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9445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100">
                <a:solidFill>
                  <a:srgbClr val="143F85"/>
                </a:solidFill>
                <a:latin typeface="微软雅黑"/>
                <a:ea typeface="微软雅黑"/>
              </a:rPr>
              <a:t>7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10712"/>
            <a:ext cx="19445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方案就绪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58184"/>
            <a:ext cx="18988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UAT 方案与工具包完成，流程已用模拟数据试跑通过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187A3C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13" name="Oval 12"/>
          <p:cNvSpPr/>
          <p:nvPr/>
        </p:nvSpPr>
        <p:spPr>
          <a:xfrm>
            <a:off x="2785811" y="2624328"/>
            <a:ext cx="365760" cy="365760"/>
          </a:xfrm>
          <a:prstGeom prst="ellipse">
            <a:avLst/>
          </a:prstGeom>
          <a:solidFill>
            <a:srgbClr val="F2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8963" y="2697480"/>
            <a:ext cx="219456" cy="219456"/>
          </a:xfrm>
          <a:prstGeom prst="ellipse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8963" y="3108960"/>
            <a:ext cx="19445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100">
                <a:solidFill>
                  <a:srgbClr val="8A6410"/>
                </a:solidFill>
                <a:latin typeface="微软雅黑"/>
                <a:ea typeface="微软雅黑"/>
              </a:rPr>
              <a:t>7–8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8963" y="3410712"/>
            <a:ext cx="19445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UAT 执行与整改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8963" y="3758184"/>
            <a:ext cx="18988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知识库体检、测试执行、问题整改——需要业务同事参与的阶段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8963" y="46634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0C2348"/>
                </a:solidFill>
                <a:latin typeface="微软雅黑"/>
                <a:ea typeface="微软雅黑"/>
              </a:rPr>
              <a:t>当前 · 邀请你们加入</a:t>
            </a:r>
          </a:p>
        </p:txBody>
      </p:sp>
      <p:sp>
        <p:nvSpPr>
          <p:cNvPr id="19" name="Oval 18"/>
          <p:cNvSpPr/>
          <p:nvPr/>
        </p:nvSpPr>
        <p:spPr>
          <a:xfrm>
            <a:off x="5077846" y="2697480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D5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7846" y="3108960"/>
            <a:ext cx="19445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100">
                <a:solidFill>
                  <a:srgbClr val="143F85"/>
                </a:solidFill>
                <a:latin typeface="微软雅黑"/>
                <a:ea typeface="微软雅黑"/>
              </a:rPr>
              <a:t>9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7846" y="3410712"/>
            <a:ext cx="19445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Pilot 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7846" y="3758184"/>
            <a:ext cx="18988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小范围真实场景验证</a:t>
            </a:r>
          </a:p>
        </p:txBody>
      </p:sp>
      <p:sp>
        <p:nvSpPr>
          <p:cNvPr id="23" name="Oval 22"/>
          <p:cNvSpPr/>
          <p:nvPr/>
        </p:nvSpPr>
        <p:spPr>
          <a:xfrm>
            <a:off x="7296729" y="2697480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D5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729" y="3108960"/>
            <a:ext cx="19445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100">
                <a:solidFill>
                  <a:srgbClr val="143F85"/>
                </a:solidFill>
                <a:latin typeface="微软雅黑"/>
                <a:ea typeface="微软雅黑"/>
              </a:rPr>
              <a:t>10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729" y="3410712"/>
            <a:ext cx="19445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正式上线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729" y="3758184"/>
            <a:ext cx="18988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达成全部底线标准后发布</a:t>
            </a:r>
          </a:p>
        </p:txBody>
      </p:sp>
      <p:sp>
        <p:nvSpPr>
          <p:cNvPr id="27" name="Oval 26"/>
          <p:cNvSpPr/>
          <p:nvPr/>
        </p:nvSpPr>
        <p:spPr>
          <a:xfrm>
            <a:off x="9515612" y="2697480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D5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15612" y="3108960"/>
            <a:ext cx="19445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100">
                <a:solidFill>
                  <a:srgbClr val="143F85"/>
                </a:solidFill>
                <a:latin typeface="微软雅黑"/>
                <a:ea typeface="微软雅黑"/>
              </a:rPr>
              <a:t>10 月起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5612" y="3410712"/>
            <a:ext cx="19445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持续运营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5612" y="3758184"/>
            <a:ext cx="18988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数据监控与月度复盘，前 3 个月强化复核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11094415" cy="10972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14476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93A0B5"/>
                </a:solidFill>
                <a:latin typeface="微软雅黑"/>
                <a:ea typeface="微软雅黑"/>
              </a:rPr>
              <a:t>时间为当前计划口径；Pilot 与上线以全部验收标准达成为前提，具体日期以届时验收结论为准。UAT 阶段的进度直接决定后续节点能否守住。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WHERE · 当前阶段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现在到了哪一步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工具和流程已经全部就绪并试跑通过——接下来的每一步都需要业务判断才能往前走，这正是邀请你们加入的时点。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094415" cy="1188720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71576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0545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UAT 方案与执行工具包（v1.4）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34640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测试流程、判分规则、Excel 执行工作簿全部定稿；判分为自动化的确定性规则，模板自检全部通过，并已用模拟数据完整试跑一遍。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30752"/>
            <a:ext cx="11094415" cy="118872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9525">
            <a:solidFill>
              <a:srgbClr val="ECD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16052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AF4E6"/>
          </a:solidFill>
          <a:ln w="9525">
            <a:solidFill>
              <a:srgbClr val="ECD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8A6410"/>
                </a:solidFill>
                <a:latin typeface="微软雅黑"/>
                <a:ea typeface="微软雅黑"/>
              </a:rPr>
              <a:t>进行中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5020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知识库体检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79392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系统正在对现有问答知识库做结构化分析：找出重复问答、边界模糊、易混淆的意图对和潜在合规风险——体检结果需要业务确认。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75504"/>
            <a:ext cx="11094415" cy="118872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9525">
            <a:solidFill>
              <a:srgbClr val="ECD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5605272"/>
            <a:ext cx="1746504" cy="347472"/>
          </a:xfrm>
          <a:prstGeom prst="roundRect">
            <a:avLst>
              <a:gd name="adj" fmla="val 50000"/>
            </a:avLst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143F85"/>
                </a:solidFill>
                <a:latin typeface="微软雅黑"/>
                <a:ea typeface="微软雅黑"/>
              </a:rPr>
              <a:t>下一步 · 需要你们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39496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31F33"/>
                </a:solidFill>
                <a:latin typeface="微软雅黑"/>
                <a:ea typeface="微软雅黑"/>
              </a:rPr>
              <a:t>测试用例审核与期望答案确认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724144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确认知识库画像 → 审核测试问题 → 决定知识库缺口怎么处理 → 确认「正确答案应该是什么」。这些判断只有业务能做，是整个 UAT 的关键路径。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WHO · 为什么是你们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为什么这轮测试必须有业务参与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这不是客气话，而是流程的硬性规定：模型和技术团队在这套机制里没有权限替业务做判断。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4480560" cy="42976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C2348"/>
              </a:gs>
              <a:gs pos="100000">
                <a:srgbClr val="17498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3712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spc="250">
                <a:solidFill>
                  <a:srgbClr val="C9A04E"/>
                </a:solidFill>
                <a:latin typeface="微软雅黑"/>
                <a:ea typeface="微软雅黑"/>
              </a:rPr>
              <a:t>制度规定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08960"/>
            <a:ext cx="37124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模型只生成候选，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不批准答案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51960"/>
            <a:ext cx="37124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4D7F3"/>
                </a:solidFill>
                <a:latin typeface="微软雅黑"/>
                <a:ea typeface="微软雅黑"/>
              </a:rPr>
              <a:t>AI 可以起草测试问题、发现疑似缺口，但任何进入正式测试和知识库的内容，都必须经业务批准、敏感项经合规审核。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没有你们的批准，测试无法往下走。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103120"/>
            <a:ext cx="6339535" cy="1280160"/>
          </a:xfrm>
          <a:prstGeom prst="roundRect">
            <a:avLst>
              <a:gd name="adj" fmla="val 8000"/>
            </a:avLst>
          </a:prstGeom>
          <a:solidFill>
            <a:srgbClr val="ECF2FC"/>
          </a:solidFill>
          <a:ln w="9525">
            <a:solidFill>
              <a:srgbClr val="D4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2286000"/>
            <a:ext cx="59006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专业判断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2560320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「这个答案对不对」只有业务知道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2907791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一句话能不能对客户说、什么情况必须转人工——这些判断来自一线经验，模型和 IT 都替代不了。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611880"/>
            <a:ext cx="6339535" cy="1280160"/>
          </a:xfrm>
          <a:prstGeom prst="roundRect">
            <a:avLst>
              <a:gd name="adj" fmla="val 8000"/>
            </a:avLst>
          </a:prstGeom>
          <a:solidFill>
            <a:srgbClr val="ECF2FC"/>
          </a:solidFill>
          <a:ln w="9525">
            <a:solidFill>
              <a:srgbClr val="D4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2976" y="3794760"/>
            <a:ext cx="59006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验收签署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4069080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上线意见由业务出具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4416552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「能不能上线」由验收人签署业务意见、合规签署敏感项，你们的确认就是上线证据链的一部分。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5120640"/>
            <a:ext cx="6339535" cy="1280160"/>
          </a:xfrm>
          <a:prstGeom prst="roundRect">
            <a:avLst>
              <a:gd name="adj" fmla="val 8000"/>
            </a:avLst>
          </a:prstGeom>
          <a:solidFill>
            <a:srgbClr val="ECF2FC"/>
          </a:solidFill>
          <a:ln w="9525">
            <a:solidFill>
              <a:srgbClr val="D4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5303520"/>
            <a:ext cx="59006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切身相关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5577840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上线后它替你们接第一通咨询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6" y="5925312"/>
            <a:ext cx="59006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系统上线后代表你们部门的口径面对客户，现在的每一小时测试，都是在避免上线后替错误答案善后。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HOW · 参与方式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参加测试具体要做什么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业务验收人按顺序做五件事，绝大部分操作是在一个 Excel 工作簿里做「下拉选择 + 批注」，不需要任何技术背景。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11094415" cy="713232"/>
          </a:xfrm>
          <a:prstGeom prst="roundRect">
            <a:avLst>
              <a:gd name="adj" fmla="val 14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414016"/>
            <a:ext cx="310896" cy="310896"/>
          </a:xfrm>
          <a:prstGeom prst="ellipse">
            <a:avLst/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3F85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12848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确认知识库体检结果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12848"/>
            <a:ext cx="72082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看一遍系统整理出的知识库画像：哪些问答重复、哪些容易混淆、哪些有缺口——确认或纠正。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713232"/>
          </a:xfrm>
          <a:prstGeom prst="roundRect">
            <a:avLst>
              <a:gd name="adj" fmla="val 14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3255264"/>
            <a:ext cx="310896" cy="310896"/>
          </a:xfrm>
          <a:prstGeom prst="ellipse">
            <a:avLst/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3F85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54096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审核测试用例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054096"/>
            <a:ext cx="72082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对 AI 生成的候选测试问题逐批做决定：批准 / 修改 / 删除，问法像不像真实客户由你们说了算。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95344"/>
            <a:ext cx="11094415" cy="713232"/>
          </a:xfrm>
          <a:prstGeom prst="roundRect">
            <a:avLst>
              <a:gd name="adj" fmla="val 14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4096511"/>
            <a:ext cx="310896" cy="310896"/>
          </a:xfrm>
          <a:prstGeom prst="ellipse">
            <a:avLst/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3F85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95344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决定知识库缺口的处理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895344"/>
            <a:ext cx="72082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对现有知识库答不了的问题选择处理方式：新增问答、扩展现有问答、按话术兜底、或转人工。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36592"/>
            <a:ext cx="11094415" cy="713232"/>
          </a:xfrm>
          <a:prstGeom prst="roundRect">
            <a:avLst>
              <a:gd name="adj" fmla="val 14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4937759"/>
            <a:ext cx="310896" cy="310896"/>
          </a:xfrm>
          <a:prstGeom prst="ellipse">
            <a:avLst/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3F85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36592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确认测试期望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736592"/>
            <a:ext cx="72082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确认每条测试问题「正确的返回应该是哪条答案或哪句兜底话术」——这是判分的唯一依据。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713232"/>
          </a:xfrm>
          <a:prstGeom prst="roundRect">
            <a:avLst>
              <a:gd name="adj" fmla="val 14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5779007"/>
            <a:ext cx="310896" cy="310896"/>
          </a:xfrm>
          <a:prstGeom prst="ellipse">
            <a:avLst/>
          </a:prstGeom>
          <a:solidFill>
            <a:srgbClr val="EC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3F85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77840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31F33"/>
                </a:solidFill>
                <a:latin typeface="微软雅黑"/>
                <a:ea typeface="微软雅黑"/>
              </a:rPr>
              <a:t>参与结果评审，出具上线意见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577840"/>
            <a:ext cx="72082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测试执行和判分自动完成后，一起看指标和失败案例，对整改和上线给出业务意见。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ROLES · 分工与投入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分工清楚，投入可控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每个角色只做自己那部分判断，时间集中在 7–8 月并分批安排，不会持续占用日常工作。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spc="200">
                <a:solidFill>
                  <a:srgbClr val="143F85"/>
                </a:solidFill>
                <a:latin typeface="微软雅黑"/>
                <a:ea typeface="微软雅黑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128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spc="200">
                <a:solidFill>
                  <a:srgbClr val="143F85"/>
                </a:solidFill>
                <a:latin typeface="微软雅黑"/>
                <a:ea typeface="微软雅黑"/>
              </a:rPr>
              <a:t>参与内容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42032"/>
            <a:ext cx="11094415" cy="16459"/>
          </a:xfrm>
          <a:prstGeom prst="rect">
            <a:avLst/>
          </a:prstGeom>
          <a:solidFill>
            <a:srgbClr val="D4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业务验收人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06624"/>
            <a:ext cx="871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4B5A71"/>
                </a:solidFill>
                <a:latin typeface="微软雅黑"/>
                <a:ea typeface="微软雅黑"/>
              </a:rPr>
              <a:t>完成上一页的五步审核：确认体检结果、审核用例、决定缺口处理、确认期望、出具上线意见。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11094415" cy="10972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735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部门负责人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73552"/>
            <a:ext cx="871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4B5A71"/>
                </a:solidFill>
                <a:latin typeface="微软雅黑"/>
                <a:ea typeface="微软雅黑"/>
              </a:rPr>
              <a:t>指定 1–2 名业务验收人并为其预留审核时间；参加里程碑评审与上线决策。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75887"/>
            <a:ext cx="11094415" cy="10972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合规审核人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840479"/>
            <a:ext cx="8716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4B5A71"/>
                </a:solidFill>
                <a:latin typeface="微软雅黑"/>
                <a:ea typeface="微软雅黑"/>
              </a:rPr>
              <a:t>只审敏感类条目：承诺、收费、利率、法律、投诉、个人信息及兜底话术。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42815"/>
            <a:ext cx="11094415" cy="10972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617719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800599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时间窗口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074919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集中在 7–8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422391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审核任务分批推送，每批有明确的数量预告和截止时间，方便与日常工作错峰。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218" y="4617719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7674" y="4800599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工作形式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7674" y="5074919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Excel 下拉 + 批注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7674" y="5422391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全部审核在一个工作簿内完成，不用写文档、不用学新工具。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7796" y="4617719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7252" y="4800599"/>
            <a:ext cx="30763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200">
                <a:solidFill>
                  <a:srgbClr val="143F85"/>
                </a:solidFill>
                <a:latin typeface="微软雅黑"/>
                <a:ea typeface="微软雅黑"/>
              </a:rPr>
              <a:t>上手成本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7252" y="5074919"/>
            <a:ext cx="30763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31F33"/>
                </a:solidFill>
                <a:latin typeface="微软雅黑"/>
                <a:ea typeface="微软雅黑"/>
              </a:rPr>
              <a:t>启动培训约 1 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5422391"/>
            <a:ext cx="307634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4B5A71"/>
                </a:solidFill>
                <a:latin typeface="微软雅黑"/>
                <a:ea typeface="微软雅黑"/>
              </a:rPr>
              <a:t>启动会现场演示工作簿操作，之后全程有项目组专人支持。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143F85"/>
                </a:solidFill>
                <a:latin typeface="微软雅黑"/>
                <a:ea typeface="微软雅黑"/>
              </a:rPr>
              <a:t>SUPPORT · 我们做了什么来降低负担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93A0B5"/>
                </a:solidFill>
                <a:latin typeface="微软雅黑"/>
                <a:ea typeface="微软雅黑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31F33"/>
                </a:solidFill>
                <a:latin typeface="微软雅黑"/>
                <a:ea typeface="微软雅黑"/>
              </a:rPr>
              <a:t>你们只做判断，其余环节都已自动化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A71"/>
                </a:solidFill>
                <a:latin typeface="微软雅黑"/>
                <a:ea typeface="微软雅黑"/>
              </a:rPr>
              <a:t>项目组已经把重复性、技术性的工作全部做掉，业务的时间只花在业务判断上。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468880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414016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一个 Excel 工作簿完成全部审核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743200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候选用例、审批状态、期望答案都在同一个工作簿里，审批项全部是下拉选择，不用写文档、不用学新工具。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212848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2468880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4235" y="2414016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判分全自动，不用逐条对答案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4235" y="2743200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测试执行后由工作簿的确定性公式自动判分出指标和失败清单，业务只需要看结果、复核失败案例。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913632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858768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AI 起草、双模型交叉复核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187952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测试问题由 AI 批量起草并经独立模型复核去重，业务拿到的是过滤后的候选，不是原始素材。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3657600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4467" y="3913632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235" y="3858768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防错机制内置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4235" y="4187952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模板自检、版本校验、行数对账等校验已内置：未批准的用例进不了正式测试，数据对不上就出不了报告。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02352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358384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5303520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候选自带参考信息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5632704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每条测试问题都关联对应的知识库条目和独立复核意见，判断时不用来回查找原文。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5867" y="5102352"/>
            <a:ext cx="5387187" cy="1261872"/>
          </a:xfrm>
          <a:prstGeom prst="roundRect">
            <a:avLst>
              <a:gd name="adj" fmla="val 9000"/>
            </a:avLst>
          </a:prstGeom>
          <a:solidFill>
            <a:srgbClr val="FDFEFE"/>
          </a:solidFill>
          <a:ln w="9525">
            <a:solidFill>
              <a:srgbClr val="E7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84467" y="5358384"/>
            <a:ext cx="274320" cy="274320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7A3C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4235" y="5303520"/>
            <a:ext cx="45185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31F33"/>
                </a:solidFill>
                <a:latin typeface="微软雅黑"/>
                <a:ea typeface="微软雅黑"/>
              </a:rPr>
              <a:t>失败案例带完整证据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4235" y="5632704"/>
            <a:ext cx="45185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4B5A71"/>
                </a:solidFill>
                <a:latin typeface="微软雅黑"/>
                <a:ea typeface="微软雅黑"/>
              </a:rPr>
              <a:t>每条失败记录都保留客户提问、期望答案和实际返回的逐条对应，评审时看得清问题出在哪。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348"/>
              </a:gs>
              <a:gs pos="100000">
                <a:srgbClr val="17498F"/>
              </a:gs>
            </a:gsLst>
            <a:lin scaled="0" ang="1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34340"/>
            <a:ext cx="292608" cy="20116"/>
          </a:xfrm>
          <a:prstGeom prst="rect">
            <a:avLst/>
          </a:prstGeom>
          <a:solidFill>
            <a:srgbClr val="C9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3291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50">
                <a:solidFill>
                  <a:srgbClr val="A9C6EE"/>
                </a:solidFill>
                <a:latin typeface="微软雅黑"/>
                <a:ea typeface="微软雅黑"/>
              </a:rPr>
              <a:t>COMMITMENT · 底线与行动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329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spc="150">
                <a:solidFill>
                  <a:srgbClr val="AAB8D6"/>
                </a:solidFill>
                <a:latin typeface="微软雅黑"/>
                <a:ea typeface="微软雅黑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四个零，才能上线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C4D7F3"/>
                </a:solidFill>
                <a:latin typeface="微软雅黑"/>
                <a:ea typeface="微软雅黑"/>
              </a:rPr>
              <a:t>验收方案写死了四条零容忍底线：以下任何一项计数不为零，当前版本就不允许上线——你们在测试中的每一个判断，都是这些底线的依据。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602153" cy="13716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C9A04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BE7F9"/>
                </a:solidFill>
                <a:latin typeface="微软雅黑"/>
                <a:ea typeface="微软雅黑"/>
              </a:rPr>
              <a:t>敏感 / 合规红线问题处置错误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2286000"/>
            <a:ext cx="2602153" cy="13716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7993" y="2450592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C9A04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3017520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BE7F9"/>
                </a:solidFill>
                <a:latin typeface="微软雅黑"/>
                <a:ea typeface="微软雅黑"/>
              </a:rPr>
              <a:t>安全及超范围问题被强答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286000"/>
            <a:ext cx="2602153" cy="13716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450592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C9A04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3017520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BE7F9"/>
                </a:solidFill>
                <a:latin typeface="微软雅黑"/>
                <a:ea typeface="微软雅黑"/>
              </a:rPr>
              <a:t>高风险意图错路由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0901" y="2286000"/>
            <a:ext cx="2602153" cy="13716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 w="9525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9501" y="2450592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C9A04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9501" y="3017520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BE7F9"/>
                </a:solidFill>
                <a:latin typeface="微软雅黑"/>
                <a:ea typeface="微软雅黑"/>
              </a:rPr>
              <a:t>知识库之外的未知输出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11094415" cy="1828800"/>
          </a:xfrm>
          <a:prstGeom prst="roundRect">
            <a:avLst>
              <a:gd name="adj" fmla="val 7000"/>
            </a:avLst>
          </a:prstGeom>
          <a:solidFill>
            <a:srgbClr val="243E63"/>
          </a:solidFill>
          <a:ln w="9525">
            <a:solidFill>
              <a:srgbClr val="C9A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250">
                <a:solidFill>
                  <a:srgbClr val="C9A04E"/>
                </a:solidFill>
                <a:latin typeface="微软雅黑"/>
                <a:ea typeface="微软雅黑"/>
              </a:rPr>
              <a:t>请各部门协助三件事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4456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C9A04E"/>
                </a:solidFill>
                <a:latin typeface="微软雅黑"/>
                <a:ea typeface="微软雅黑"/>
              </a:rPr>
              <a:t>①  </a:t>
            </a:r>
            <a:r>
              <a:rPr sz="1150" b="0">
                <a:solidFill>
                  <a:srgbClr val="E8EFFB"/>
                </a:solidFill>
                <a:latin typeface="微软雅黑"/>
                <a:ea typeface="微软雅黑"/>
              </a:rPr>
              <a:t>确定本部门的业务验收人（1–2 名，建议为熟悉客户咨询场景的骨干），将名单反馈给项目组；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28616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C9A04E"/>
                </a:solidFill>
                <a:latin typeface="微软雅黑"/>
                <a:ea typeface="微软雅黑"/>
              </a:rPr>
              <a:t>②  </a:t>
            </a:r>
            <a:r>
              <a:rPr sz="1150" b="0">
                <a:solidFill>
                  <a:srgbClr val="E8EFFB"/>
                </a:solidFill>
                <a:latin typeface="微软雅黑"/>
                <a:ea typeface="微软雅黑"/>
              </a:rPr>
              <a:t>安排验收人参加 UAT 启动会（时间另行通知），现场演示工作簿操作，约 1 小时；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12664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C9A04E"/>
                </a:solidFill>
                <a:latin typeface="微软雅黑"/>
                <a:ea typeface="微软雅黑"/>
              </a:rPr>
              <a:t>③  </a:t>
            </a:r>
            <a:r>
              <a:rPr sz="1150" b="0">
                <a:solidFill>
                  <a:srgbClr val="E8EFFB"/>
                </a:solidFill>
                <a:latin typeface="微软雅黑"/>
                <a:ea typeface="微软雅黑"/>
              </a:rPr>
              <a:t>在 7–8 月为验收人预留分批审核时间，具体批次与工作量在启动会上对齐。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144768"/>
            <a:ext cx="11094415" cy="10972"/>
          </a:xfrm>
          <a:prstGeom prst="rect">
            <a:avLst/>
          </a:prstGeom>
          <a:solidFill>
            <a:srgbClr val="2E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272784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FA5C6"/>
                </a:solidFill>
                <a:latin typeface="微软雅黑"/>
                <a:ea typeface="微软雅黑"/>
              </a:rPr>
              <a:t>AI 客服质量保障项目组 · 2026 年 7 月 · 名单反馈与答疑请联系项目组对接人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